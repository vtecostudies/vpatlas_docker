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94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2C5530"/>
                </a:solidFill>
              </a:rPr>
              <a:t>VPAtlas — User &amp; Admin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383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555555"/>
                </a:solidFill>
              </a:rPr>
              <a:t>Vermont's vernal pool data system — what volunteers and admins actually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888888"/>
                </a:solidFill>
              </a:rPr>
              <a:t>Vermont Center for Ecostudies  ·  vpatlas.org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C5530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2C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555555"/>
                </a:solidFill>
              </a:rPr>
              <a:t>•  Legacy workflows</a:t>
            </a:r>
          </a:p>
          <a:p>
            <a:r>
              <a:rPr sz="2200" b="0" i="0">
                <a:solidFill>
                  <a:srgbClr val="555555"/>
                </a:solidFill>
              </a:rPr>
              <a:t>•  New features</a:t>
            </a:r>
          </a:p>
          <a:p>
            <a:r>
              <a:rPr sz="2200" b="0" i="0">
                <a:solidFill>
                  <a:srgbClr val="555555"/>
                </a:solidFill>
              </a:rPr>
              <a:t>•  Remaining issues</a:t>
            </a:r>
          </a:p>
          <a:p>
            <a:r>
              <a:rPr sz="2200" b="0" i="0">
                <a:solidFill>
                  <a:srgbClr val="555555"/>
                </a:solidFill>
              </a:rPr>
              <a:t>     ◦  Review Visits</a:t>
            </a:r>
          </a:p>
          <a:p>
            <a:r>
              <a:rPr sz="2200" b="0" i="0">
                <a:solidFill>
                  <a:srgbClr val="555555"/>
                </a:solidFill>
              </a:rPr>
              <a:t>     ◦  Inline Help info</a:t>
            </a:r>
          </a:p>
          <a:p>
            <a:r>
              <a:rPr sz="2200" b="0" i="0">
                <a:solidFill>
                  <a:srgbClr val="555555"/>
                </a:solidFill>
              </a:rPr>
              <a:t>•  Considerations</a:t>
            </a:r>
          </a:p>
          <a:p>
            <a:r>
              <a:rPr sz="2200" b="0" i="0">
                <a:solidFill>
                  <a:srgbClr val="555555"/>
                </a:solidFill>
              </a:rPr>
              <a:t>     ◦  Recent political climate &amp; display of potential pools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C5530"/>
                </a:solidFill>
              </a:rPr>
              <a:t>What VPAtlas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2C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C5530"/>
                </a:solidFill>
              </a:rPr>
              <a:t>For volunteers in the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532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</a:rPr>
              <a:t>•  Find and navigate to vernal pools with live GPS</a:t>
            </a:r>
          </a:p>
          <a:p>
            <a:r>
              <a:rPr sz="1400" b="0" i="0">
                <a:solidFill>
                  <a:srgbClr val="555555"/>
                </a:solidFill>
              </a:rPr>
              <a:t>•  Record pool visits and monitoring surveys</a:t>
            </a:r>
          </a:p>
          <a:p>
            <a:r>
              <a:rPr sz="1400" b="0" i="0">
                <a:solidFill>
                  <a:srgbClr val="555555"/>
                </a:solidFill>
              </a:rPr>
              <a:t>•  Capture tracks of where they walked</a:t>
            </a:r>
          </a:p>
          <a:p>
            <a:r>
              <a:rPr sz="1400" b="0" i="0">
                <a:solidFill>
                  <a:srgbClr val="555555"/>
                </a:solidFill>
              </a:rPr>
              <a:t>•  Works offline on cellular and shared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114300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C5530"/>
                </a:solidFill>
              </a:rPr>
              <a:t>For admins back at VCE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691640"/>
            <a:ext cx="5532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</a:rPr>
              <a:t>•  Review and triage volunteer submissions</a:t>
            </a:r>
          </a:p>
          <a:p>
            <a:r>
              <a:rPr sz="1400" b="0" i="0">
                <a:solidFill>
                  <a:srgbClr val="555555"/>
                </a:solidFill>
              </a:rPr>
              <a:t>•  Manage users, see who's active</a:t>
            </a:r>
          </a:p>
          <a:p>
            <a:r>
              <a:rPr sz="1400" b="0" i="0">
                <a:solidFill>
                  <a:srgbClr val="555555"/>
                </a:solidFill>
              </a:rPr>
              <a:t>•  Diagnose field reports ("won't load", "too slow")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C5530"/>
                </a:solidFill>
              </a:rPr>
              <a:t>Auth &amp; account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2C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C5530"/>
                </a:solidFill>
              </a:rPr>
              <a:t>Sign-up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532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</a:rPr>
              <a:t>•  Self-service registration</a:t>
            </a:r>
          </a:p>
          <a:p>
            <a:r>
              <a:rPr sz="1400" b="0" i="0">
                <a:solidFill>
                  <a:srgbClr val="555555"/>
                </a:solidFill>
              </a:rPr>
              <a:t>•  Email confirmation link → first login activates</a:t>
            </a:r>
          </a:p>
          <a:p>
            <a:r>
              <a:rPr sz="1400" b="0" i="0">
                <a:solidFill>
                  <a:srgbClr val="555555"/>
                </a:solidFill>
              </a:rPr>
              <a:t>•  Password reset = deferred-confirm via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114300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C5530"/>
                </a:solidFill>
              </a:rPr>
              <a:t>Account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691640"/>
            <a:ext cx="5532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</a:rPr>
              <a:t>•  Email change = deferred swap (confirm at new address)</a:t>
            </a:r>
          </a:p>
          <a:p>
            <a:r>
              <a:rPr sz="1400" b="0" i="0">
                <a:solidFill>
                  <a:srgbClr val="555555"/>
                </a:solidFill>
              </a:rPr>
              <a:t>•  Previous-email history per user</a:t>
            </a:r>
          </a:p>
          <a:p>
            <a:r>
              <a:rPr sz="1400" b="0" i="0">
                <a:solidFill>
                  <a:srgbClr val="555555"/>
                </a:solidFill>
              </a:rPr>
              <a:t>•  Per-user IndexedDB scoping — shared iPads don't leak data between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C5530"/>
                </a:solidFill>
              </a:rPr>
              <a:t>Explore — the public pool browser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2C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C5530"/>
                </a:solidFill>
              </a:rPr>
              <a:t>Three panes, one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</a:rPr>
              <a:t>•  Pool list (left) + map (center) + summary (right)</a:t>
            </a:r>
          </a:p>
          <a:p>
            <a:r>
              <a:rPr sz="1400" b="0" i="0">
                <a:solidFill>
                  <a:srgbClr val="555555"/>
                </a:solidFill>
              </a:rPr>
              <a:t>•  One fetch drives all three — never inconsistent</a:t>
            </a:r>
          </a:p>
          <a:p>
            <a:r>
              <a:rPr sz="1400" b="0" i="0">
                <a:solidFill>
                  <a:srgbClr val="555555"/>
                </a:solidFill>
              </a:rPr>
              <a:t>•  Filters persist to IndexedDB + 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143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C5530"/>
                </a:solidFill>
              </a:rPr>
              <a:t>Filtering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916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</a:rPr>
              <a:t>•  All / Visited / Monitored / Mine / Review</a:t>
            </a:r>
          </a:p>
          <a:p>
            <a:r>
              <a:rPr sz="1400" b="0" i="0">
                <a:solidFill>
                  <a:srgbClr val="555555"/>
                </a:solidFill>
              </a:rPr>
              <a:t>•  Pool ID type-ahead search</a:t>
            </a:r>
          </a:p>
          <a:p>
            <a:r>
              <a:rPr sz="1400" b="0" i="0">
                <a:solidFill>
                  <a:srgbClr val="555555"/>
                </a:solidFill>
              </a:rPr>
              <a:t>•  Town &amp; County multi-select with tokens</a:t>
            </a:r>
          </a:p>
          <a:p>
            <a:r>
              <a:rPr sz="1400" b="0" i="0">
                <a:solidFill>
                  <a:srgbClr val="555555"/>
                </a:solidFill>
              </a:rPr>
              <a:t>•  Status: Potential / Probable / Confirmed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1143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C5530"/>
                </a:solidFill>
              </a:rPr>
              <a:t>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16916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</a:rPr>
              <a:t>•  VCGI basemaps (CIR, leaf-off, lidar DEM/DSM)</a:t>
            </a:r>
          </a:p>
          <a:p>
            <a:r>
              <a:rPr sz="1400" b="0" i="0">
                <a:solidFill>
                  <a:srgbClr val="555555"/>
                </a:solidFill>
              </a:rPr>
              <a:t>•  Color = status, shape = highest survey level</a:t>
            </a:r>
          </a:p>
          <a:p>
            <a:r>
              <a:rPr sz="1400" b="0" i="0">
                <a:solidFill>
                  <a:srgbClr val="555555"/>
                </a:solidFill>
              </a:rPr>
              <a:t>•  Click pin → pulsing green halo + detail</a:t>
            </a:r>
          </a:p>
          <a:p>
            <a:r>
              <a:rPr sz="1400" b="0" i="0">
                <a:solidFill>
                  <a:srgbClr val="555555"/>
                </a:solidFill>
              </a:rPr>
              <a:t>•  On-demand landowner/parcel fetch in popups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C5530"/>
                </a:solidFill>
              </a:rPr>
              <a:t>PoolFinder — field navigation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2C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C5530"/>
                </a:solidFill>
              </a:rPr>
              <a:t>Live GPS to a 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532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</a:rPr>
              <a:t>•  Compass dial + arrow + distance to target</a:t>
            </a:r>
          </a:p>
          <a:p>
            <a:r>
              <a:rPr sz="1400" b="0" i="0">
                <a:solidFill>
                  <a:srgbClr val="555555"/>
                </a:solidFill>
              </a:rPr>
              <a:t>•  Multi-target list with "switch target?" prompt</a:t>
            </a:r>
          </a:p>
          <a:p>
            <a:r>
              <a:rPr sz="1400" b="0" i="0">
                <a:solidFill>
                  <a:srgbClr val="555555"/>
                </a:solidFill>
              </a:rPr>
              <a:t>•  Blue user marker with pulsing halo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114300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C5530"/>
                </a:solidFill>
              </a:rPr>
              <a:t>Track recording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691640"/>
            <a:ext cx="5532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</a:rPr>
              <a:t>•  Start / stop / discard from the same screen</a:t>
            </a:r>
          </a:p>
          <a:p>
            <a:r>
              <a:rPr sz="1400" b="0" i="0">
                <a:solidFill>
                  <a:srgbClr val="555555"/>
                </a:solidFill>
              </a:rPr>
              <a:t>•  Persistent across page reloads</a:t>
            </a:r>
          </a:p>
          <a:p>
            <a:r>
              <a:rPr sz="1400" b="0" i="0">
                <a:solidFill>
                  <a:srgbClr val="555555"/>
                </a:solidFill>
              </a:rPr>
              <a:t>•  Recording + saved tracks shown distinctly</a:t>
            </a:r>
          </a:p>
          <a:p>
            <a:r>
              <a:rPr sz="1400" b="0" i="0">
                <a:solidFill>
                  <a:srgbClr val="555555"/>
                </a:solidFill>
              </a:rPr>
              <a:t>•  Zoom-to-track button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C5530"/>
                </a:solidFill>
              </a:rPr>
              <a:t>Visits &amp; tracks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2C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C5530"/>
                </a:solidFill>
              </a:rPr>
              <a:t>Visit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</a:rPr>
              <a:t>•  Mobile-first, LoonWeb form patterns</a:t>
            </a:r>
          </a:p>
          <a:p>
            <a:r>
              <a:rPr sz="1400" b="0" i="0">
                <a:solidFill>
                  <a:srgbClr val="555555"/>
                </a:solidFill>
              </a:rPr>
              <a:t>•  Capture pool characteristics + indicator species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143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C5530"/>
                </a:solidFill>
              </a:rPr>
              <a:t>My Visits and Tracks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916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</a:rPr>
              <a:t>•  Unified list across local + server</a:t>
            </a:r>
          </a:p>
          <a:p>
            <a:r>
              <a:rPr sz="1400" b="0" i="0">
                <a:solidFill>
                  <a:srgbClr val="555555"/>
                </a:solidFill>
              </a:rPr>
              <a:t>•  Tracks recorded on another device appear automatically</a:t>
            </a:r>
          </a:p>
          <a:p>
            <a:r>
              <a:rPr sz="1400" b="0" i="0">
                <a:solidFill>
                  <a:srgbClr val="555555"/>
                </a:solidFill>
              </a:rPr>
              <a:t>•  Lazy geometry fetch — points load on first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1143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C5530"/>
                </a:solidFill>
              </a:rPr>
              <a:t>Tracks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16916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</a:rPr>
              <a:t>•  Local-first IndexedDB; manual upload only</a:t>
            </a:r>
          </a:p>
          <a:p>
            <a:r>
              <a:rPr sz="1400" b="0" i="0">
                <a:solidFill>
                  <a:srgbClr val="555555"/>
                </a:solidFill>
              </a:rPr>
              <a:t>•  Owner + admin visible — never public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C5530"/>
                </a:solidFill>
              </a:rPr>
              <a:t>Admin workflows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2C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C5530"/>
                </a:solidFill>
              </a:rPr>
              <a:t>User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</a:rPr>
              <a:t>•  Sortable user table (name, role, status, joined, Last Active)</a:t>
            </a:r>
          </a:p>
          <a:p>
            <a:r>
              <a:rPr sz="1400" b="0" i="0">
                <a:solidFill>
                  <a:srgbClr val="555555"/>
                </a:solidFill>
              </a:rPr>
              <a:t>•  One-click into per-user profile</a:t>
            </a:r>
          </a:p>
          <a:p>
            <a:r>
              <a:rPr sz="1400" b="0" i="0">
                <a:solidFill>
                  <a:srgbClr val="555555"/>
                </a:solidFill>
              </a:rPr>
              <a:t>•  Inline profile edit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143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C5530"/>
                </a:solidFill>
              </a:rPr>
              <a:t>Per-user activity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916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</a:rPr>
              <a:t>•  Last login / profile edit</a:t>
            </a:r>
          </a:p>
          <a:p>
            <a:r>
              <a:rPr sz="1400" b="0" i="0">
                <a:solidFill>
                  <a:srgbClr val="555555"/>
                </a:solidFill>
              </a:rPr>
              <a:t>•  Last visit, last survey, last track upload</a:t>
            </a:r>
          </a:p>
          <a:p>
            <a:r>
              <a:rPr sz="1400" b="0" i="0">
                <a:solidFill>
                  <a:srgbClr val="555555"/>
                </a:solidFill>
              </a:rPr>
              <a:t>•  Previous emails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1143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C5530"/>
                </a:solidFill>
              </a:rPr>
              <a:t>Review &amp; diagnostics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16916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</a:rPr>
              <a:t>•  "Review" filter on Explore for admin triage</a:t>
            </a:r>
          </a:p>
          <a:p>
            <a:r>
              <a:rPr sz="1400" b="0" i="0">
                <a:solidFill>
                  <a:srgbClr val="555555"/>
                </a:solidFill>
              </a:rPr>
              <a:t>•  System page: on-demand bandwidth probe</a:t>
            </a:r>
          </a:p>
          <a:p>
            <a:r>
              <a:rPr sz="1400" b="0" i="0">
                <a:solidFill>
                  <a:srgbClr val="555555"/>
                </a:solidFill>
              </a:rPr>
              <a:t>•  Useful when a volunteer reports "won't load"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2C5530"/>
                </a:solidFill>
              </a:rPr>
              <a:t>Built for the field, not the 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555555"/>
                </a:solidFill>
              </a:rPr>
              <a:t>Per-user data isolation, bandwidth-aware SW updates, offline PWA, local-first track recording, lazy geometry fetch, GPS-driven PoolFinder.</a:t>
            </a:r>
          </a:p>
          <a:p>
            <a:r>
              <a:rPr sz="1800" b="0" i="0">
                <a:solidFill>
                  <a:srgbClr val="555555"/>
                </a:solidFill>
              </a:rPr>
              <a:t/>
            </a:r>
          </a:p>
          <a:p>
            <a:r>
              <a:rPr sz="1800" b="0" i="0">
                <a:solidFill>
                  <a:srgbClr val="555555"/>
                </a:solidFill>
              </a:rPr>
              <a:t>Every one of these exists because of a real field report — bad cellular, a shared iPad, a half-finished visit, a track recorded out of range.</a:t>
            </a:r>
          </a:p>
          <a:p>
            <a:r>
              <a:rPr sz="1800" b="0" i="0">
                <a:solidFill>
                  <a:srgbClr val="555555"/>
                </a:solidFill>
              </a:rPr>
              <a:t/>
            </a:r>
          </a:p>
          <a:p>
            <a:r>
              <a:rPr sz="1800" b="0" i="0">
                <a:solidFill>
                  <a:srgbClr val="555555"/>
                </a:solidFill>
              </a:rPr>
              <a:t>Next: vpvisit and vpmon survey detail forms, pool create/edit, review and survey list pages.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